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82" d="100"/>
          <a:sy n="82" d="100"/>
        </p:scale>
        <p:origin x="21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rgbClr val="002060"/>
                </a:solidFill>
              </a:rPr>
              <a:t>Yearly Revenue Trend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2240354653104669E-2"/>
          <c:y val="0.16175923007711429"/>
          <c:w val="0.97551929069379062"/>
          <c:h val="0.75674273463432984"/>
        </c:manualLayout>
      </c:layout>
      <c:lineChart>
        <c:grouping val="standard"/>
        <c:varyColors val="0"/>
        <c:ser>
          <c:idx val="0"/>
          <c:order val="0"/>
          <c:tx>
            <c:strRef>
              <c:f>revenue_over_time!$B$14</c:f>
              <c:strCache>
                <c:ptCount val="1"/>
                <c:pt idx="0">
                  <c:v>Revenue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revenue_over_time!$A$15:$A$21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revenue_over_time!$B$15:$B$21</c:f>
              <c:numCache>
                <c:formatCode>"$"#,##0.00</c:formatCode>
                <c:ptCount val="7"/>
                <c:pt idx="0">
                  <c:v>2569160</c:v>
                </c:pt>
                <c:pt idx="1">
                  <c:v>3081378</c:v>
                </c:pt>
                <c:pt idx="2">
                  <c:v>2607532</c:v>
                </c:pt>
                <c:pt idx="3">
                  <c:v>1513614</c:v>
                </c:pt>
                <c:pt idx="4">
                  <c:v>2487856</c:v>
                </c:pt>
                <c:pt idx="5">
                  <c:v>2285077</c:v>
                </c:pt>
                <c:pt idx="6">
                  <c:v>2001397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AD-4A8B-A2A4-F254D4482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6203608"/>
        <c:axId val="556207208"/>
      </c:lineChart>
      <c:catAx>
        <c:axId val="556203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07208"/>
        <c:crosses val="autoZero"/>
        <c:auto val="1"/>
        <c:lblAlgn val="ctr"/>
        <c:lblOffset val="100"/>
        <c:noMultiLvlLbl val="0"/>
      </c:catAx>
      <c:valAx>
        <c:axId val="556207208"/>
        <c:scaling>
          <c:orientation val="minMax"/>
        </c:scaling>
        <c:delete val="1"/>
        <c:axPos val="l"/>
        <c:numFmt formatCode="&quot;$&quot;#,##0.00" sourceLinked="1"/>
        <c:majorTickMark val="none"/>
        <c:minorTickMark val="none"/>
        <c:tickLblPos val="nextTo"/>
        <c:crossAx val="55620360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Top Revenue-Contributing Students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Top_paying_students!$F$1</c:f>
              <c:strCache>
                <c:ptCount val="1"/>
                <c:pt idx="0">
                  <c:v>total_paid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Top_paying_students!$E$2:$E$11</c:f>
              <c:strCache>
                <c:ptCount val="10"/>
                <c:pt idx="0">
                  <c:v>Kimbell Coneau</c:v>
                </c:pt>
                <c:pt idx="1">
                  <c:v>Hale Phifer</c:v>
                </c:pt>
                <c:pt idx="2">
                  <c:v>Purcell Trustram</c:v>
                </c:pt>
                <c:pt idx="3">
                  <c:v>Gena Ropcke</c:v>
                </c:pt>
                <c:pt idx="4">
                  <c:v>Bette-ann Edelheid</c:v>
                </c:pt>
                <c:pt idx="5">
                  <c:v>Enrica Porritt</c:v>
                </c:pt>
                <c:pt idx="6">
                  <c:v>Keven De Lorenzo</c:v>
                </c:pt>
                <c:pt idx="7">
                  <c:v>Hildegarde Olek</c:v>
                </c:pt>
                <c:pt idx="8">
                  <c:v>Shelby Allenson</c:v>
                </c:pt>
                <c:pt idx="9">
                  <c:v>Conrado Leare</c:v>
                </c:pt>
              </c:strCache>
            </c:strRef>
          </c:cat>
          <c:val>
            <c:numRef>
              <c:f>Top_paying_students!$F$2:$F$11</c:f>
              <c:numCache>
                <c:formatCode>"$"#,##0.00</c:formatCode>
                <c:ptCount val="10"/>
                <c:pt idx="0">
                  <c:v>609539</c:v>
                </c:pt>
                <c:pt idx="1">
                  <c:v>591106</c:v>
                </c:pt>
                <c:pt idx="2">
                  <c:v>541508</c:v>
                </c:pt>
                <c:pt idx="3">
                  <c:v>537098</c:v>
                </c:pt>
                <c:pt idx="4">
                  <c:v>532740</c:v>
                </c:pt>
                <c:pt idx="5">
                  <c:v>479610</c:v>
                </c:pt>
                <c:pt idx="6">
                  <c:v>457686</c:v>
                </c:pt>
                <c:pt idx="7">
                  <c:v>441923</c:v>
                </c:pt>
                <c:pt idx="8">
                  <c:v>414843</c:v>
                </c:pt>
                <c:pt idx="9">
                  <c:v>408381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A-44EF-9527-FB987C85A4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axId val="556202168"/>
        <c:axId val="556196048"/>
      </c:barChart>
      <c:catAx>
        <c:axId val="5562021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196048"/>
        <c:crosses val="autoZero"/>
        <c:auto val="1"/>
        <c:lblAlgn val="ctr"/>
        <c:lblOffset val="100"/>
        <c:noMultiLvlLbl val="0"/>
      </c:catAx>
      <c:valAx>
        <c:axId val="556196048"/>
        <c:scaling>
          <c:orientation val="minMax"/>
        </c:scaling>
        <c:delete val="1"/>
        <c:axPos val="b"/>
        <c:numFmt formatCode="&quot;$&quot;#,##0.00" sourceLinked="1"/>
        <c:majorTickMark val="none"/>
        <c:minorTickMark val="none"/>
        <c:tickLblPos val="nextTo"/>
        <c:crossAx val="55620216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1600"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Course Enrollment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Most_popular_courses!$B$1</c:f>
              <c:strCache>
                <c:ptCount val="1"/>
                <c:pt idx="0">
                  <c:v>total_students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Most_popular_courses!$A$2:$A$6</c:f>
              <c:strCache>
                <c:ptCount val="5"/>
                <c:pt idx="0">
                  <c:v>Computer Science</c:v>
                </c:pt>
                <c:pt idx="1">
                  <c:v>Economics</c:v>
                </c:pt>
                <c:pt idx="2">
                  <c:v>Accounting</c:v>
                </c:pt>
                <c:pt idx="3">
                  <c:v>Data Science</c:v>
                </c:pt>
                <c:pt idx="4">
                  <c:v>Biology</c:v>
                </c:pt>
              </c:strCache>
            </c:strRef>
          </c:cat>
          <c:val>
            <c:numRef>
              <c:f>Most_popular_courses!$B$2:$B$6</c:f>
              <c:numCache>
                <c:formatCode>General</c:formatCode>
                <c:ptCount val="5"/>
                <c:pt idx="0">
                  <c:v>112</c:v>
                </c:pt>
                <c:pt idx="1">
                  <c:v>74</c:v>
                </c:pt>
                <c:pt idx="2">
                  <c:v>58</c:v>
                </c:pt>
                <c:pt idx="3">
                  <c:v>33</c:v>
                </c:pt>
                <c:pt idx="4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43-4923-8728-166203EC18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56202888"/>
        <c:axId val="556203968"/>
      </c:barChart>
      <c:catAx>
        <c:axId val="5562028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03968"/>
        <c:crosses val="autoZero"/>
        <c:auto val="1"/>
        <c:lblAlgn val="ctr"/>
        <c:lblOffset val="100"/>
        <c:noMultiLvlLbl val="0"/>
      </c:catAx>
      <c:valAx>
        <c:axId val="5562039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620288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Student Distribution by Department</a:t>
            </a:r>
          </a:p>
        </c:rich>
      </c:tx>
      <c:layout>
        <c:manualLayout>
          <c:xMode val="edge"/>
          <c:yMode val="edge"/>
          <c:x val="0.32697810322118315"/>
          <c:y val="6.0185185185185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students_per_department!$B$1</c:f>
              <c:strCache>
                <c:ptCount val="1"/>
                <c:pt idx="0">
                  <c:v>total_students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students_per_department!$A$2:$A$5</c:f>
              <c:strCache>
                <c:ptCount val="4"/>
                <c:pt idx="0">
                  <c:v>Business</c:v>
                </c:pt>
                <c:pt idx="1">
                  <c:v>Arts</c:v>
                </c:pt>
                <c:pt idx="2">
                  <c:v>Tech</c:v>
                </c:pt>
                <c:pt idx="3">
                  <c:v>Science</c:v>
                </c:pt>
              </c:strCache>
            </c:strRef>
          </c:cat>
          <c:val>
            <c:numRef>
              <c:f>students_per_department!$B$2:$B$5</c:f>
              <c:numCache>
                <c:formatCode>General</c:formatCode>
                <c:ptCount val="4"/>
                <c:pt idx="0">
                  <c:v>136</c:v>
                </c:pt>
                <c:pt idx="1">
                  <c:v>89</c:v>
                </c:pt>
                <c:pt idx="2">
                  <c:v>55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2B-49E2-9CD1-0D7B960E8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9175696"/>
        <c:axId val="549168856"/>
      </c:barChart>
      <c:catAx>
        <c:axId val="549175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9168856"/>
        <c:crosses val="autoZero"/>
        <c:auto val="1"/>
        <c:lblAlgn val="ctr"/>
        <c:lblOffset val="100"/>
        <c:noMultiLvlLbl val="0"/>
      </c:catAx>
      <c:valAx>
        <c:axId val="549168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491756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rgbClr val="002060"/>
                </a:solidFill>
              </a:rPr>
              <a:t>Payment Status Breakdown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Payment_status_breakdown!$B$1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505-45FB-AAB9-DB354440C26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505-45FB-AAB9-DB354440C26D}"/>
              </c:ext>
            </c:extLst>
          </c:dPt>
          <c:cat>
            <c:strRef>
              <c:f>Payment_status_breakdown!$A$2:$A$3</c:f>
              <c:strCache>
                <c:ptCount val="2"/>
                <c:pt idx="0">
                  <c:v>paid</c:v>
                </c:pt>
                <c:pt idx="1">
                  <c:v>pending</c:v>
                </c:pt>
              </c:strCache>
            </c:strRef>
          </c:cat>
          <c:val>
            <c:numRef>
              <c:f>Payment_status_breakdown!$B$2:$B$3</c:f>
              <c:numCache>
                <c:formatCode>General</c:formatCode>
                <c:ptCount val="2"/>
                <c:pt idx="0">
                  <c:v>78</c:v>
                </c:pt>
                <c:pt idx="1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05-45FB-AAB9-DB354440C2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3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8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8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60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5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4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9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32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00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2522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02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2806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26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14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6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7F9A7-73A5-433D-A2DF-583CDD98A1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09003061-7CC6-45C2-B599-0B69E45A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9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  <p:sldLayoutId id="2147483980" r:id="rId13"/>
    <p:sldLayoutId id="2147483981" r:id="rId14"/>
    <p:sldLayoutId id="2147483982" r:id="rId15"/>
    <p:sldLayoutId id="21474839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CDD283F-E18E-A5C1-8450-97A04FBFC0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78933" y="1085646"/>
            <a:ext cx="1063413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School Database System (PostgreSQL)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B3925-572E-31B7-8DB7-EB53F904C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22" y="6373460"/>
            <a:ext cx="4154311" cy="484540"/>
          </a:xfrm>
        </p:spPr>
        <p:txBody>
          <a:bodyPr>
            <a:norm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2060"/>
                </a:solidFill>
                <a:latin typeface="Arial" panose="020B0604020202020204" pitchFamily="34" charset="0"/>
              </a:rPr>
              <a:t>By: Emmanuella N. Okonkwo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27EDE-2B6A-9451-8B7A-E5FE658E8F24}"/>
              </a:ext>
            </a:extLst>
          </p:cNvPr>
          <p:cNvSpPr txBox="1"/>
          <p:nvPr/>
        </p:nvSpPr>
        <p:spPr>
          <a:xfrm>
            <a:off x="3048000" y="185508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Design, Optimization &amp; Data Analysis</a:t>
            </a:r>
          </a:p>
        </p:txBody>
      </p:sp>
    </p:spTree>
    <p:extLst>
      <p:ext uri="{BB962C8B-B14F-4D97-AF65-F5344CB8AC3E}">
        <p14:creationId xmlns:p14="http://schemas.microsoft.com/office/powerpoint/2010/main" val="69662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1322A5-2371-A97F-EE54-E2C3F10EDE11}"/>
              </a:ext>
            </a:extLst>
          </p:cNvPr>
          <p:cNvSpPr txBox="1"/>
          <p:nvPr/>
        </p:nvSpPr>
        <p:spPr>
          <a:xfrm>
            <a:off x="169333" y="760697"/>
            <a:ext cx="1188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PROJECT OBJECTIVE</a:t>
            </a:r>
          </a:p>
          <a:p>
            <a:endParaRPr lang="en-US" dirty="0"/>
          </a:p>
          <a:p>
            <a:r>
              <a:rPr lang="en-US" dirty="0">
                <a:solidFill>
                  <a:srgbClr val="002060"/>
                </a:solidFill>
              </a:rPr>
              <a:t>This project was developed to design and implement a relational database system for managing school operations using PostgreSQL.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1E999-30AA-CCC3-0606-FEA62BB5DA86}"/>
              </a:ext>
            </a:extLst>
          </p:cNvPr>
          <p:cNvSpPr txBox="1"/>
          <p:nvPr/>
        </p:nvSpPr>
        <p:spPr>
          <a:xfrm>
            <a:off x="169333" y="2982880"/>
            <a:ext cx="118081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It focuses on: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Structuring student, course, enrollment, payment, and teacher data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Establishing relationships using primary and foreign keys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Ensuring data integrity and consistency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Running analytical SQL queries for insights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Evaluating query performance using EXPLAIN ANALYZE</a:t>
            </a:r>
          </a:p>
        </p:txBody>
      </p:sp>
    </p:spTree>
    <p:extLst>
      <p:ext uri="{BB962C8B-B14F-4D97-AF65-F5344CB8AC3E}">
        <p14:creationId xmlns:p14="http://schemas.microsoft.com/office/powerpoint/2010/main" val="883688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9FFB3A-CC87-C4CB-DBB1-6390C86E0F6B}"/>
              </a:ext>
            </a:extLst>
          </p:cNvPr>
          <p:cNvSpPr txBox="1"/>
          <p:nvPr/>
        </p:nvSpPr>
        <p:spPr>
          <a:xfrm>
            <a:off x="158045" y="566298"/>
            <a:ext cx="11277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OVERVIEW</a:t>
            </a:r>
          </a:p>
          <a:p>
            <a:endParaRPr lang="en-US" dirty="0"/>
          </a:p>
          <a:p>
            <a:r>
              <a:rPr lang="en-US" dirty="0"/>
              <a:t>This database captures key operational and financial activities of a school system, including student records, course offerings, enrollments, and payments.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8D761-4D31-E119-3D99-72E19E3F0064}"/>
              </a:ext>
            </a:extLst>
          </p:cNvPr>
          <p:cNvSpPr txBox="1"/>
          <p:nvPr/>
        </p:nvSpPr>
        <p:spPr>
          <a:xfrm>
            <a:off x="1038576" y="2647976"/>
            <a:ext cx="3381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Total Student Population </a:t>
            </a:r>
          </a:p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DDCC9-854C-1952-3F2D-506708D9D01C}"/>
              </a:ext>
            </a:extLst>
          </p:cNvPr>
          <p:cNvSpPr txBox="1"/>
          <p:nvPr/>
        </p:nvSpPr>
        <p:spPr>
          <a:xfrm>
            <a:off x="7402692" y="2647975"/>
            <a:ext cx="37507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Total Revenue Generated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$16,546,014.00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EB586-C116-3830-CC34-0116EED216C9}"/>
              </a:ext>
            </a:extLst>
          </p:cNvPr>
          <p:cNvSpPr txBox="1"/>
          <p:nvPr/>
        </p:nvSpPr>
        <p:spPr>
          <a:xfrm>
            <a:off x="1241774" y="4361892"/>
            <a:ext cx="31778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Total Courses Offered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5F33B-DB2D-FFBE-A842-BD2EC5A6A978}"/>
              </a:ext>
            </a:extLst>
          </p:cNvPr>
          <p:cNvSpPr txBox="1"/>
          <p:nvPr/>
        </p:nvSpPr>
        <p:spPr>
          <a:xfrm>
            <a:off x="7684914" y="4260377"/>
            <a:ext cx="37507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Total Enrollments Recorded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300</a:t>
            </a:r>
          </a:p>
        </p:txBody>
      </p:sp>
    </p:spTree>
    <p:extLst>
      <p:ext uri="{BB962C8B-B14F-4D97-AF65-F5344CB8AC3E}">
        <p14:creationId xmlns:p14="http://schemas.microsoft.com/office/powerpoint/2010/main" val="216884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44D6D-590A-F8A0-25B9-2E11EE6129DE}"/>
              </a:ext>
            </a:extLst>
          </p:cNvPr>
          <p:cNvSpPr txBox="1"/>
          <p:nvPr/>
        </p:nvSpPr>
        <p:spPr>
          <a:xfrm>
            <a:off x="248354" y="452735"/>
            <a:ext cx="117178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REVENUE TREND ANALYSIS</a:t>
            </a:r>
          </a:p>
          <a:p>
            <a:endParaRPr lang="en-US" dirty="0"/>
          </a:p>
          <a:p>
            <a:r>
              <a:rPr lang="en-US" dirty="0"/>
              <a:t>This chart shows annual revenue performance across the school system over time, highlighting fluctuations in financial inflow.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5C1C981-A481-BAC4-A75F-F7E7493C8F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7402514"/>
              </p:ext>
            </p:extLst>
          </p:nvPr>
        </p:nvGraphicFramePr>
        <p:xfrm>
          <a:off x="248354" y="1653064"/>
          <a:ext cx="11413068" cy="3458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BE09464-0BDE-3416-E5CA-5D8789F4EE5E}"/>
              </a:ext>
            </a:extLst>
          </p:cNvPr>
          <p:cNvSpPr txBox="1"/>
          <p:nvPr/>
        </p:nvSpPr>
        <p:spPr>
          <a:xfrm>
            <a:off x="248354" y="5284379"/>
            <a:ext cx="8636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peaked in 2021 at $3,081,378.00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significant decline occurred in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Recovery trend is observed in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stabilizes but slightly declines toward 2026</a:t>
            </a:r>
          </a:p>
        </p:txBody>
      </p:sp>
    </p:spTree>
    <p:extLst>
      <p:ext uri="{BB962C8B-B14F-4D97-AF65-F5344CB8AC3E}">
        <p14:creationId xmlns:p14="http://schemas.microsoft.com/office/powerpoint/2010/main" val="152549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93EBA05-9E55-4BE9-94A3-4581FECE50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187438"/>
              </p:ext>
            </p:extLst>
          </p:nvPr>
        </p:nvGraphicFramePr>
        <p:xfrm>
          <a:off x="321732" y="1650999"/>
          <a:ext cx="11260668" cy="3293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90C37BF-03F4-983E-CCA5-36616F44045C}"/>
              </a:ext>
            </a:extLst>
          </p:cNvPr>
          <p:cNvSpPr txBox="1"/>
          <p:nvPr/>
        </p:nvSpPr>
        <p:spPr>
          <a:xfrm>
            <a:off x="321732" y="270049"/>
            <a:ext cx="116219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 REVENUE-CONTRIBUTING STUDENTS</a:t>
            </a:r>
          </a:p>
          <a:p>
            <a:endParaRPr lang="en-US" dirty="0"/>
          </a:p>
          <a:p>
            <a:r>
              <a:rPr lang="en-US" dirty="0"/>
              <a:t>This analysis highlights the top 10 students who generate the highest total revenue through payments. It helps identify key contributors within the student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62D19-1E42-C4BA-1AC2-5C6D379ADB40}"/>
              </a:ext>
            </a:extLst>
          </p:cNvPr>
          <p:cNvSpPr txBox="1"/>
          <p:nvPr/>
        </p:nvSpPr>
        <p:spPr>
          <a:xfrm>
            <a:off x="321731" y="5408557"/>
            <a:ext cx="10842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small group of students contributes a significant portion of total revenue, indicating revenue concentration among high-paying individuals.</a:t>
            </a:r>
          </a:p>
        </p:txBody>
      </p:sp>
    </p:spTree>
    <p:extLst>
      <p:ext uri="{BB962C8B-B14F-4D97-AF65-F5344CB8AC3E}">
        <p14:creationId xmlns:p14="http://schemas.microsoft.com/office/powerpoint/2010/main" val="1106011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A5A0F62-3E7B-DC84-E658-35EB4B7800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2931645"/>
              </p:ext>
            </p:extLst>
          </p:nvPr>
        </p:nvGraphicFramePr>
        <p:xfrm>
          <a:off x="303550" y="1712626"/>
          <a:ext cx="1138435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F95CC99-FC18-1D08-DAE4-57BCCFE3A551}"/>
              </a:ext>
            </a:extLst>
          </p:cNvPr>
          <p:cNvSpPr txBox="1"/>
          <p:nvPr/>
        </p:nvSpPr>
        <p:spPr>
          <a:xfrm>
            <a:off x="303551" y="325319"/>
            <a:ext cx="115236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COURSE ENROLLMENT DISTRIBUTION</a:t>
            </a:r>
          </a:p>
          <a:p>
            <a:endParaRPr lang="en-US" dirty="0"/>
          </a:p>
          <a:p>
            <a:r>
              <a:rPr lang="en-US" dirty="0"/>
              <a:t>This analysis shows how students are distributed across different courses based on enrollment volume.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62D43-3F93-4B9E-B483-C42ED167CC05}"/>
              </a:ext>
            </a:extLst>
          </p:cNvPr>
          <p:cNvSpPr txBox="1"/>
          <p:nvPr/>
        </p:nvSpPr>
        <p:spPr>
          <a:xfrm>
            <a:off x="303550" y="4919803"/>
            <a:ext cx="11523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Enrollment is heavily concentrated in a few courses, with Computer Science dominating overall student interest.</a:t>
            </a:r>
          </a:p>
        </p:txBody>
      </p:sp>
    </p:spTree>
    <p:extLst>
      <p:ext uri="{BB962C8B-B14F-4D97-AF65-F5344CB8AC3E}">
        <p14:creationId xmlns:p14="http://schemas.microsoft.com/office/powerpoint/2010/main" val="196281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C941CDC-BC65-A4DD-2347-84C4755A7A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9959859"/>
              </p:ext>
            </p:extLst>
          </p:nvPr>
        </p:nvGraphicFramePr>
        <p:xfrm>
          <a:off x="587115" y="1902276"/>
          <a:ext cx="1070047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A40766B-0EC3-A9B2-1656-2A0548A42AAD}"/>
              </a:ext>
            </a:extLst>
          </p:cNvPr>
          <p:cNvSpPr txBox="1"/>
          <p:nvPr/>
        </p:nvSpPr>
        <p:spPr>
          <a:xfrm>
            <a:off x="213610" y="228840"/>
            <a:ext cx="11838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STUDENT DISTRIBUTION BY DEPARTMENT</a:t>
            </a:r>
          </a:p>
          <a:p>
            <a:endParaRPr lang="en-US" dirty="0"/>
          </a:p>
          <a:p>
            <a:r>
              <a:rPr lang="en-US" dirty="0"/>
              <a:t>This analysis shows how students are distributed across academic departments based on enrollment volume.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76EFE-FCDF-DB49-A0E1-B03B74D38F0B}"/>
              </a:ext>
            </a:extLst>
          </p:cNvPr>
          <p:cNvSpPr txBox="1"/>
          <p:nvPr/>
        </p:nvSpPr>
        <p:spPr>
          <a:xfrm>
            <a:off x="213609" y="5118583"/>
            <a:ext cx="11733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Business department has the highest student population, indicating strong preference toward commercially oriented programs, while Science has the lowest enrollment</a:t>
            </a:r>
          </a:p>
        </p:txBody>
      </p:sp>
    </p:spTree>
    <p:extLst>
      <p:ext uri="{BB962C8B-B14F-4D97-AF65-F5344CB8AC3E}">
        <p14:creationId xmlns:p14="http://schemas.microsoft.com/office/powerpoint/2010/main" val="180697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37AE60F-CC0E-CBEE-55CD-E13C3BD3CE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1439590"/>
              </p:ext>
            </p:extLst>
          </p:nvPr>
        </p:nvGraphicFramePr>
        <p:xfrm>
          <a:off x="318540" y="1459149"/>
          <a:ext cx="10572198" cy="363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5BD736-8B4B-3D76-0CE7-C0A225519773}"/>
              </a:ext>
            </a:extLst>
          </p:cNvPr>
          <p:cNvSpPr txBox="1"/>
          <p:nvPr/>
        </p:nvSpPr>
        <p:spPr>
          <a:xfrm>
            <a:off x="318540" y="258820"/>
            <a:ext cx="118734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PAYMENT STATUS BREAKDOWN</a:t>
            </a:r>
          </a:p>
          <a:p>
            <a:endParaRPr lang="en-US" dirty="0"/>
          </a:p>
          <a:p>
            <a:r>
              <a:rPr lang="en-US" dirty="0"/>
              <a:t>This analysis shows the distribution of payment completion status across all student transactions.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A8938-B85C-8511-0D78-54BD4799BFD1}"/>
              </a:ext>
            </a:extLst>
          </p:cNvPr>
          <p:cNvSpPr txBox="1"/>
          <p:nvPr/>
        </p:nvSpPr>
        <p:spPr>
          <a:xfrm>
            <a:off x="318540" y="5093677"/>
            <a:ext cx="109590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A significant portion of payments remain pending, indicating potential gaps in payment completion or collection efficiency within the system.</a:t>
            </a:r>
          </a:p>
        </p:txBody>
      </p:sp>
    </p:spTree>
    <p:extLst>
      <p:ext uri="{BB962C8B-B14F-4D97-AF65-F5344CB8AC3E}">
        <p14:creationId xmlns:p14="http://schemas.microsoft.com/office/powerpoint/2010/main" val="102359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2CFC89-03C0-16A5-B3FC-770E23352BF2}"/>
              </a:ext>
            </a:extLst>
          </p:cNvPr>
          <p:cNvSpPr txBox="1"/>
          <p:nvPr/>
        </p:nvSpPr>
        <p:spPr>
          <a:xfrm>
            <a:off x="105508" y="192155"/>
            <a:ext cx="1198098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KEY INSIGHTS &amp; ANALYTICAL SUMMARY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This analysis of the school database reveals clear structural and behavioral patterns across revenue, enrollment, and academic distribution.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Key Findings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Revenue peaked in 2021 ($3.08M) but declined sharply in 2023, indicating volatility rather than steady growth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Revenue is highly concentrated among a small group of students, with the top 10 contributing a significant share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Computer Science dominates enrollment (112 students), showing strong skew toward tech-related demand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Business remains the largest department (136 students), reinforcing commercial program dominance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Science has the lowest enrollment (20 students), suggesting potential underperformance or low demand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Payment behavior is nearly balanced (78 paid vs 72 pending), raising questions about collection timing and efficiency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Conclusion</a:t>
            </a:r>
          </a:p>
          <a:p>
            <a:r>
              <a:rPr lang="en-US" dirty="0">
                <a:solidFill>
                  <a:srgbClr val="002060"/>
                </a:solidFill>
              </a:rPr>
              <a:t>The database highlights uneven distribution across revenue sources, academic demand, and payment completion, suggesting opportunities for improved resource allocation and financial tracking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24873148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505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School Database System (PostgreSQL)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Emmanuella Okonkwo</dc:creator>
  <cp:lastModifiedBy>Emmanuella Okonkwo</cp:lastModifiedBy>
  <cp:revision>1</cp:revision>
  <dcterms:created xsi:type="dcterms:W3CDTF">2026-04-26T20:16:08Z</dcterms:created>
  <dcterms:modified xsi:type="dcterms:W3CDTF">2026-04-26T20:32:37Z</dcterms:modified>
</cp:coreProperties>
</file>